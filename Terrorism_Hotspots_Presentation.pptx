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98" y="12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37224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martey/terrorism-hostspot-analysis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3" name="Text 1"/>
          <p:cNvSpPr/>
          <p:nvPr/>
        </p:nvSpPr>
        <p:spPr>
          <a:xfrm>
            <a:off x="685800" y="120015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PREDICTIVE ANALYTICS FOR IDENTIFYING FUTURE TERRORISM HOTSPOTS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2883643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Machine Learning Approach Using the Global Terrorism Database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3556108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A5
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Joel Dadi-Klutse (22424513) • Justice Moses (22425107) • Richmond Martey (22424349)
</a:t>
            </a:r>
            <a:r>
              <a:rPr lang="en-US" sz="1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DSCD 611 Programming for Data Scientist
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INTRODUCTION &amp; RESEARCH QUESTION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GH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35661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0F1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400" dirty="0">
                <a:solidFill>
                  <a:srgbClr val="0F1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we predict future terrorism hotspots?
• 181,000+ terrorist incidents (1970-2017)
• Global Terrorism Database analysis
• Focus: Geographic risk assessment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931920" cy="3474720"/>
          </a:xfrm>
          <a:prstGeom prst="rect">
            <a:avLst/>
          </a:prstGeom>
          <a:solidFill>
            <a:srgbClr val="1E2761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GH"/>
          </a:p>
        </p:txBody>
      </p:sp>
      <p:sp>
        <p:nvSpPr>
          <p:cNvPr id="7" name="Text 5"/>
          <p:cNvSpPr/>
          <p:nvPr/>
        </p:nvSpPr>
        <p:spPr>
          <a:xfrm>
            <a:off x="4937760" y="13716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APPROACH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937760" y="1920240"/>
            <a:ext cx="35661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classification
• Hotspot definition: 3+ attacks in 90 days
• Spatial-temporal pattern analysis
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THIS MATTERS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22831"/>
            <a:ext cx="265176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GH"/>
          </a:p>
        </p:txBody>
      </p:sp>
      <p:sp>
        <p:nvSpPr>
          <p:cNvPr id="4" name="Shape 2"/>
          <p:cNvSpPr/>
          <p:nvPr/>
        </p:nvSpPr>
        <p:spPr>
          <a:xfrm>
            <a:off x="1325880" y="1086903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5" name="Text 3"/>
          <p:cNvSpPr/>
          <p:nvPr/>
        </p:nvSpPr>
        <p:spPr>
          <a:xfrm>
            <a:off x="1325880" y="1082363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⚠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248711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Security Crisis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015575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F1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Escalating violence in Sahel region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Mali, Burkina Faso, Niger affected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Spillover to stable West Africa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Ghana's 602km border at risk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924777"/>
            <a:ext cx="265176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GH"/>
          </a:p>
        </p:txBody>
      </p:sp>
      <p:sp>
        <p:nvSpPr>
          <p:cNvPr id="9" name="Shape 7"/>
          <p:cNvSpPr/>
          <p:nvPr/>
        </p:nvSpPr>
        <p:spPr>
          <a:xfrm>
            <a:off x="4251960" y="1076526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10" name="Text 8"/>
          <p:cNvSpPr/>
          <p:nvPr/>
        </p:nvSpPr>
        <p:spPr>
          <a:xfrm>
            <a:off x="4251960" y="1086903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🎯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566160" y="2248711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Applications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66160" y="3015575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F1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Early warning systems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Resource allocation optimization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Humanitarian response planning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Proactive security measures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924777"/>
            <a:ext cx="265176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GH"/>
          </a:p>
        </p:txBody>
      </p:sp>
      <p:sp>
        <p:nvSpPr>
          <p:cNvPr id="14" name="Shape 12"/>
          <p:cNvSpPr/>
          <p:nvPr/>
        </p:nvSpPr>
        <p:spPr>
          <a:xfrm>
            <a:off x="7178040" y="1080417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15" name="Text 13"/>
          <p:cNvSpPr/>
          <p:nvPr/>
        </p:nvSpPr>
        <p:spPr>
          <a:xfrm>
            <a:off x="7178040" y="1086903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📊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492240" y="2248711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Value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92240" y="2953319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F1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Evidence-based policy making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Border surveillance enhancement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Community engagement programs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Lives saved through prevention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&amp; PREPROCESSING PIPELINE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20116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Terrorism Database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181,691 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incidents
</a:t>
            </a:r>
            <a:r>
              <a:rPr lang="en-US" sz="32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135 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
</a:t>
            </a:r>
            <a:r>
              <a:rPr lang="en-US" sz="32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204 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countries
</a:t>
            </a:r>
            <a:r>
              <a:rPr lang="en-US" sz="20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1970-2017 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timespan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93192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GH"/>
          </a:p>
        </p:txBody>
      </p:sp>
      <p:sp>
        <p:nvSpPr>
          <p:cNvPr id="7" name="Text 5"/>
          <p:cNvSpPr/>
          <p:nvPr/>
        </p:nvSpPr>
        <p:spPr>
          <a:xfrm>
            <a:off x="4937760" y="12115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 Challenges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37760" y="150876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300" dirty="0">
                <a:solidFill>
                  <a:srgbClr val="0F1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4,558 records with missing coordinates
• 8,534 low-precision records flagged
• Uncertain dates handled
• Casualty data imputed
• Text standardization applied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350834"/>
            <a:ext cx="8229600" cy="1792666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10" name="Text 8"/>
          <p:cNvSpPr/>
          <p:nvPr/>
        </p:nvSpPr>
        <p:spPr>
          <a:xfrm>
            <a:off x="640080" y="35661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Working Dataset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4114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177,133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Records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51760" y="4114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65176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63440" y="4114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911,142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66344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Casualties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75120" y="4114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126 MB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67512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Optimized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4916457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F1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 MB → 126 MB while preserving analytical integrity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METHODOLOGY &amp; TECHNICAL APPROACH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GH"/>
          </a:p>
        </p:txBody>
      </p:sp>
      <p:sp>
        <p:nvSpPr>
          <p:cNvPr id="4" name="Text 2"/>
          <p:cNvSpPr/>
          <p:nvPr/>
        </p:nvSpPr>
        <p:spPr>
          <a:xfrm>
            <a:off x="640080" y="1165049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429642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1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Temporal Features
</a:t>
            </a:r>
            <a:r>
              <a:rPr lang="en-US" sz="1100" dirty="0">
                <a:solidFill>
                  <a:srgbClr val="0F1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Year, quarter, seasonal patterns
</a:t>
            </a:r>
            <a:r>
              <a:rPr lang="en-US" sz="1300" b="1" dirty="0">
                <a:solidFill>
                  <a:srgbClr val="0F1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Geographic Features
</a:t>
            </a:r>
            <a:r>
              <a:rPr lang="en-US" sz="1100" dirty="0">
                <a:solidFill>
                  <a:srgbClr val="0F1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Grid cells (lat/long degree)
</a:t>
            </a:r>
            <a:r>
              <a:rPr lang="en-US" sz="1300" b="1" dirty="0">
                <a:solidFill>
                  <a:srgbClr val="0F1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Attack History Features
</a:t>
            </a:r>
            <a:r>
              <a:rPr lang="en-US" sz="1100" dirty="0">
                <a:solidFill>
                  <a:srgbClr val="0F1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Rolling windows: 30, 90, 180, 365 days
</a:t>
            </a:r>
            <a:r>
              <a:rPr lang="en-US" sz="1300" b="1" dirty="0">
                <a:solidFill>
                  <a:srgbClr val="0F1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Attack Type &amp; Perpetrator
</a:t>
            </a:r>
            <a:r>
              <a:rPr lang="en-US" sz="1100" dirty="0">
                <a:solidFill>
                  <a:srgbClr val="0F1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Tactics and group-level statistics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25603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7" name="Text 5"/>
          <p:cNvSpPr/>
          <p:nvPr/>
        </p:nvSpPr>
        <p:spPr>
          <a:xfrm>
            <a:off x="493776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Innovation: Temporal Validation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37760" y="173736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Training: </a:t>
            </a: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1970-2012 (60.5%)
</a:t>
            </a:r>
            <a:r>
              <a:rPr lang="en-US" sz="13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Validation: </a:t>
            </a: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2013-2014 (14.2%)
</a:t>
            </a:r>
            <a:r>
              <a:rPr lang="en-US" sz="13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Testing: </a:t>
            </a: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2015-2017 (20.9%)
✓ No information leakage
✓ Mimics real-world forecasting
✓ Prevents inflated metrics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840480"/>
            <a:ext cx="8229600" cy="1286159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10" name="Text 8"/>
          <p:cNvSpPr/>
          <p:nvPr/>
        </p:nvSpPr>
        <p:spPr>
          <a:xfrm>
            <a:off x="640080" y="3972776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Evaluated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4223426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4463374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regularization, balanced weights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4223426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83280" y="4463374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trees, max depth 14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26480" y="4223426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Boosting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26480" y="4463374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estimators, learning rate 0.1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852319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F1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imbalance addressed: SMOTE for tree models, class weighting for logistic regression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ADC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 PERFORMANCE RESULTS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Model: Logistic Regression (Best generalization &amp; interpretability)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196596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GH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91.2%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accuracy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06040" y="2103120"/>
            <a:ext cx="196596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GH"/>
          </a:p>
        </p:txBody>
      </p:sp>
      <p:sp>
        <p:nvSpPr>
          <p:cNvPr id="10" name="Text 8"/>
          <p:cNvSpPr/>
          <p:nvPr/>
        </p:nvSpPr>
        <p:spPr>
          <a:xfrm>
            <a:off x="2606040" y="228600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95.4%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606040" y="29260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06040" y="33832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Hotspot detection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103120"/>
            <a:ext cx="196596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GH"/>
          </a:p>
        </p:txBody>
      </p:sp>
      <p:sp>
        <p:nvSpPr>
          <p:cNvPr id="14" name="Text 12"/>
          <p:cNvSpPr/>
          <p:nvPr/>
        </p:nvSpPr>
        <p:spPr>
          <a:xfrm>
            <a:off x="4754880" y="228600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93.3%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754880" y="29260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F1-Score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754880" y="33832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Balanced performance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03720" y="2103120"/>
            <a:ext cx="196596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GH"/>
          </a:p>
        </p:txBody>
      </p:sp>
      <p:sp>
        <p:nvSpPr>
          <p:cNvPr id="18" name="Text 16"/>
          <p:cNvSpPr/>
          <p:nvPr/>
        </p:nvSpPr>
        <p:spPr>
          <a:xfrm>
            <a:off x="6903720" y="228600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94.5%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903720" y="29260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03720" y="33832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capability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801110"/>
            <a:ext cx="8229600" cy="1342390"/>
          </a:xfrm>
          <a:prstGeom prst="rect">
            <a:avLst/>
          </a:prstGeom>
          <a:solidFill>
            <a:srgbClr val="0F1935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22" name="Text 20"/>
          <p:cNvSpPr/>
          <p:nvPr/>
        </p:nvSpPr>
        <p:spPr>
          <a:xfrm>
            <a:off x="640080" y="3745865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0080" y="3928745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attack frequency = strongest predictor (67% model importance)
• Medium-term windows (90-365 days) more predictive than short-term (30 days)
• Strong spatial-temporal clustering confirmed: past violence predicts future violence
•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SOCIETAL IMPACT &amp; APPLICATIONS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2286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4" name="Text 2"/>
          <p:cNvSpPr/>
          <p:nvPr/>
        </p:nvSpPr>
        <p:spPr>
          <a:xfrm>
            <a:off x="640080" y="107393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Applications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344686"/>
            <a:ext cx="3749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warning systems
</a:t>
            </a:r>
            <a:r>
              <a:rPr lang="en-US" sz="11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 workflow integration
</a:t>
            </a: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allocation
</a:t>
            </a:r>
            <a:r>
              <a:rPr lang="en-US" sz="11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 positioning before escalation
</a:t>
            </a: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Humanitarian response
</a:t>
            </a:r>
            <a:r>
              <a:rPr lang="en-US" sz="11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protocols &amp; evacuation planning
</a:t>
            </a: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communication
</a:t>
            </a:r>
            <a:r>
              <a:rPr lang="en-US" sz="11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Interpretable insights for decision-makers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22860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GH"/>
          </a:p>
        </p:txBody>
      </p:sp>
      <p:sp>
        <p:nvSpPr>
          <p:cNvPr id="7" name="Text 5"/>
          <p:cNvSpPr/>
          <p:nvPr/>
        </p:nvSpPr>
        <p:spPr>
          <a:xfrm>
            <a:off x="4937760" y="1095981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Critical Caveats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37760" y="1287938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300" dirty="0">
                <a:solidFill>
                  <a:srgbClr val="0F1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300" b="1" dirty="0">
                <a:solidFill>
                  <a:srgbClr val="0F1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Predicts WHERE, not WHY
</a:t>
            </a:r>
            <a:r>
              <a:rPr lang="en-US" sz="1300" dirty="0">
                <a:solidFill>
                  <a:srgbClr val="0F1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300" b="1" dirty="0">
                <a:solidFill>
                  <a:srgbClr val="0F1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prescribe interventions
</a:t>
            </a:r>
            <a:r>
              <a:rPr lang="en-US" sz="1300" dirty="0">
                <a:solidFill>
                  <a:srgbClr val="0F1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300" b="1" dirty="0">
                <a:solidFill>
                  <a:srgbClr val="0F1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fail on novel tactics
</a:t>
            </a:r>
            <a:r>
              <a:rPr lang="en-US" sz="1300" dirty="0">
                <a:solidFill>
                  <a:srgbClr val="0F1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300" b="1" dirty="0">
                <a:solidFill>
                  <a:srgbClr val="0F1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continuous monitoring
</a:t>
            </a:r>
            <a:r>
              <a:rPr lang="en-US" sz="1300" dirty="0">
                <a:solidFill>
                  <a:srgbClr val="0F1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300" b="1" dirty="0">
                <a:solidFill>
                  <a:srgbClr val="0F1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oversight essential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520440"/>
            <a:ext cx="8229600" cy="1623060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10" name="Text 8"/>
          <p:cNvSpPr/>
          <p:nvPr/>
        </p:nvSpPr>
        <p:spPr>
          <a:xfrm>
            <a:off x="640080" y="3566809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Responsible Deployment Framework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3907761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Transparency: </a:t>
            </a:r>
            <a:r>
              <a:rPr lang="en-US" sz="1200" dirty="0">
                <a:solidFill>
                  <a:srgbClr val="0F1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communication about model capabilities &amp; limitations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4188004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Automation: </a:t>
            </a:r>
            <a:r>
              <a:rPr lang="en-US" sz="1200" dirty="0">
                <a:solidFill>
                  <a:srgbClr val="0F1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with human expertise, not replacement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45034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Update: </a:t>
            </a:r>
            <a:r>
              <a:rPr lang="en-US" sz="1200" dirty="0">
                <a:solidFill>
                  <a:srgbClr val="0F1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Periodic retraining to capture evolving patterns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4804331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Anti-Stigmatization: </a:t>
            </a:r>
            <a:r>
              <a:rPr lang="en-US" sz="1200" dirty="0">
                <a:solidFill>
                  <a:srgbClr val="0F1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 labeling communities; focus on actionable intelligence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ADC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TAKEAWAYS &amp; LESSONS LEARNED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1188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Achieved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653054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r>
              <a:rPr lang="en-US" sz="1300" dirty="0">
                <a:solidFill>
                  <a:srgbClr val="0F1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Developed robust ML model with 93%+ F1-score on unseen data
</a:t>
            </a:r>
            <a:r>
              <a:rPr lang="en-US" sz="1400" b="1" dirty="0">
                <a:solidFill>
                  <a:srgbClr val="0F1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r>
              <a:rPr lang="en-US" sz="1300" dirty="0">
                <a:solidFill>
                  <a:srgbClr val="0F1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spatial-temporal clustering theory with real-world data
</a:t>
            </a:r>
            <a:r>
              <a:rPr lang="en-US" sz="1400" b="1" dirty="0">
                <a:solidFill>
                  <a:srgbClr val="0F1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r>
              <a:rPr lang="en-US" sz="1300" dirty="0">
                <a:solidFill>
                  <a:srgbClr val="0F1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 actionable framework for security planning in West Africa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560320"/>
            <a:ext cx="4114800" cy="2468880"/>
          </a:xfrm>
          <a:prstGeom prst="rect">
            <a:avLst/>
          </a:prstGeom>
          <a:solidFill>
            <a:srgbClr val="0F1935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8" name="Text 6"/>
          <p:cNvSpPr/>
          <p:nvPr/>
        </p:nvSpPr>
        <p:spPr>
          <a:xfrm>
            <a:off x="640080" y="2632467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Lessons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971800"/>
            <a:ext cx="37490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Temporal validation is paramount
</a:t>
            </a:r>
            <a:r>
              <a:rPr lang="en-US" sz="11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Information leakage inflated metrics to 98%
</a:t>
            </a:r>
            <a:r>
              <a:rPr lang="en-US" sz="13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Domain expertise drives features
</a:t>
            </a:r>
            <a:r>
              <a:rPr lang="en-US" sz="11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Rolling windows captured near-repeat patterns
</a:t>
            </a:r>
            <a:r>
              <a:rPr lang="en-US" sz="13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Simplicity generalizes better
</a:t>
            </a:r>
            <a:r>
              <a:rPr lang="en-US" sz="11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Logistic regression outperformed complex models
</a:t>
            </a:r>
            <a:r>
              <a:rPr lang="en-US" sz="13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Ethics require transparency
</a:t>
            </a:r>
            <a:r>
              <a:rPr lang="en-US" sz="11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Human oversight prevents unintended harm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2571750"/>
            <a:ext cx="3931920" cy="2468880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11" name="Text 9"/>
          <p:cNvSpPr/>
          <p:nvPr/>
        </p:nvSpPr>
        <p:spPr>
          <a:xfrm>
            <a:off x="4937760" y="2661001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Contributions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937760" y="3028950"/>
            <a:ext cx="3566160" cy="16573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Joel Dadi-Klutse (Leader)
</a:t>
            </a:r>
            <a:r>
              <a:rPr lang="en-US" sz="1100" dirty="0">
                <a:solidFill>
                  <a:srgbClr val="0F1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Handled EDA, the six analytical questions and visualizations, heatmap, and documentation/reporting.
</a:t>
            </a: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Justice Moses
</a:t>
            </a:r>
            <a:r>
              <a:rPr lang="en-US" sz="1100" dirty="0">
                <a:solidFill>
                  <a:srgbClr val="0F1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Handled data loading, cleaning, and feature/target creation (data pipeline and feature engineering).
</a:t>
            </a: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Richmond Martey
</a:t>
            </a:r>
            <a:r>
              <a:rPr lang="en-US" sz="1100" dirty="0">
                <a:solidFill>
                  <a:srgbClr val="0F1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Handled temporal train/</a:t>
            </a:r>
            <a:r>
              <a:rPr lang="en-US" sz="1100" dirty="0" err="1">
                <a:solidFill>
                  <a:srgbClr val="0F1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</a:t>
            </a:r>
            <a:r>
              <a:rPr lang="en-US" sz="1100" dirty="0">
                <a:solidFill>
                  <a:srgbClr val="0F1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/test splits, model training, and evaluation metrics and GitHub setup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5029200"/>
            <a:ext cx="8046720" cy="2743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14" name="Text 12"/>
          <p:cNvSpPr/>
          <p:nvPr/>
        </p:nvSpPr>
        <p:spPr>
          <a:xfrm>
            <a:off x="4754880" y="50292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 Code Repository: </a:t>
            </a:r>
            <a:r>
              <a:rPr lang="en-US" sz="1100" dirty="0" err="1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rmartey</a:t>
            </a:r>
            <a:r>
              <a:rPr lang="en-US" sz="1100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/terrorism-</a:t>
            </a:r>
            <a:r>
              <a:rPr lang="en-US" sz="1100" dirty="0" err="1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hostspot</a:t>
            </a:r>
            <a:r>
              <a:rPr lang="en-US" sz="1100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-analysis</a:t>
            </a:r>
            <a:endParaRPr lang="en-US" sz="11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788</Words>
  <Application>Microsoft Office PowerPoint</Application>
  <PresentationFormat>On-screen Show (16:9)</PresentationFormat>
  <Paragraphs>106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University of Ghana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Predictive Analytics for Identifying Future Terrorism Hotspots</dc:title>
  <dc:subject>Predictive Analytics for Terrorism Hotspots</dc:subject>
  <dc:creator>Group A5</dc:creator>
  <cp:lastModifiedBy>Dadi-Klutse Joel</cp:lastModifiedBy>
  <cp:revision>6</cp:revision>
  <dcterms:created xsi:type="dcterms:W3CDTF">2026-02-01T09:02:34Z</dcterms:created>
  <dcterms:modified xsi:type="dcterms:W3CDTF">2026-02-01T09:37:41Z</dcterms:modified>
</cp:coreProperties>
</file>